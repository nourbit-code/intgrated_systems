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24504a35b5431a" /><Relationship Type="http://schemas.openxmlformats.org/officeDocument/2006/relationships/extended-properties" Target="/docProps/app.xml" Id="Rda5832b1715644fe" /><Relationship Type="http://schemas.openxmlformats.org/officeDocument/2006/relationships/officeDocument" Target="/ppt/presentation.xml" Id="R39cec25f47ff44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247bc82a254cf8"/>
  </p:sldMasterIdLst>
  <p:notesMasterIdLst>
    <p:notesMasterId xmlns:r="http://schemas.openxmlformats.org/officeDocument/2006/relationships" r:id="Re8d51d63e9b647b0"/>
  </p:notesMasterIdLst>
  <p:sldIdLst>
    <p:sldId xmlns:r="http://schemas.openxmlformats.org/officeDocument/2006/relationships" id="256" r:id="R8d724a9468054417"/>
    <p:sldId xmlns:r="http://schemas.openxmlformats.org/officeDocument/2006/relationships" id="257" r:id="Rf50d66fd728d4743"/>
    <p:sldId xmlns:r="http://schemas.openxmlformats.org/officeDocument/2006/relationships" id="258" r:id="R509803233d024e17"/>
    <p:sldId xmlns:r="http://schemas.openxmlformats.org/officeDocument/2006/relationships" id="259" r:id="R4cb0b3c5a41b4132"/>
    <p:sldId xmlns:r="http://schemas.openxmlformats.org/officeDocument/2006/relationships" id="260" r:id="Reb66fcaadf3c4505"/>
    <p:sldId xmlns:r="http://schemas.openxmlformats.org/officeDocument/2006/relationships" id="261" r:id="Rccfc39eeee644740"/>
    <p:sldId xmlns:r="http://schemas.openxmlformats.org/officeDocument/2006/relationships" id="262" r:id="Red4820a975eb4835"/>
    <p:sldId xmlns:r="http://schemas.openxmlformats.org/officeDocument/2006/relationships" id="263" r:id="Re58058dc06c54091"/>
    <p:sldId xmlns:r="http://schemas.openxmlformats.org/officeDocument/2006/relationships" id="264" r:id="Rf53efee29fbf450d"/>
    <p:sldId xmlns:r="http://schemas.openxmlformats.org/officeDocument/2006/relationships" id="265" r:id="R779beee56e7e469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47bc82a254cf8" /><Relationship Type="http://schemas.openxmlformats.org/officeDocument/2006/relationships/theme" Target="/ppt/theme/theme1.xml" Id="R9f9f27f75a254300" /><Relationship Type="http://schemas.openxmlformats.org/officeDocument/2006/relationships/notesMaster" Target="/ppt/notesMasters/notesMaster1.xml" Id="Re8d51d63e9b647b0" /><Relationship Type="http://schemas.openxmlformats.org/officeDocument/2006/relationships/presProps" Target="/ppt/presProps.xml" Id="R0de1eae1ef9d46df" /><Relationship Type="http://schemas.openxmlformats.org/officeDocument/2006/relationships/viewProps" Target="/ppt/viewProps.xml" Id="Re29e5320507d41f5" /><Relationship Type="http://schemas.openxmlformats.org/officeDocument/2006/relationships/tableStyles" Target="/ppt/tableStyles.xml" Id="Rae78f9a95b534dc0" /><Relationship Type="http://schemas.openxmlformats.org/officeDocument/2006/relationships/slide" Target="/ppt/slides/slide1.xml" Id="R8d724a9468054417" /><Relationship Type="http://schemas.openxmlformats.org/officeDocument/2006/relationships/slide" Target="/ppt/slides/slide2.xml" Id="Rf50d66fd728d4743" /><Relationship Type="http://schemas.openxmlformats.org/officeDocument/2006/relationships/slide" Target="/ppt/slides/slide3.xml" Id="R509803233d024e17" /><Relationship Type="http://schemas.openxmlformats.org/officeDocument/2006/relationships/slide" Target="/ppt/slides/slide4.xml" Id="R4cb0b3c5a41b4132" /><Relationship Type="http://schemas.openxmlformats.org/officeDocument/2006/relationships/slide" Target="/ppt/slides/slide5.xml" Id="Reb66fcaadf3c4505" /><Relationship Type="http://schemas.openxmlformats.org/officeDocument/2006/relationships/slide" Target="/ppt/slides/slide6.xml" Id="Rccfc39eeee644740" /><Relationship Type="http://schemas.openxmlformats.org/officeDocument/2006/relationships/slide" Target="/ppt/slides/slide7.xml" Id="Red4820a975eb4835" /><Relationship Type="http://schemas.openxmlformats.org/officeDocument/2006/relationships/slide" Target="/ppt/slides/slide8.xml" Id="Re58058dc06c54091" /><Relationship Type="http://schemas.openxmlformats.org/officeDocument/2006/relationships/slide" Target="/ppt/slides/slide9.xml" Id="Rf53efee29fbf450d" /><Relationship Type="http://schemas.openxmlformats.org/officeDocument/2006/relationships/slide" Target="/ppt/slides/slide10.xml" Id="R779beee56e7e46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67b84934fbe48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a42a7bafcc40a3" /><Relationship Type="http://schemas.openxmlformats.org/officeDocument/2006/relationships/notesMaster" Target="/ppt/notesMasters/notesMaster1.xml" Id="R66df699fc8174b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96ecc0a3b84d3e" /><Relationship Type="http://schemas.openxmlformats.org/officeDocument/2006/relationships/notesMaster" Target="/ppt/notesMasters/notesMaster1.xml" Id="Ra4363ed4f4754d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8d2960b0014fce" /><Relationship Type="http://schemas.openxmlformats.org/officeDocument/2006/relationships/notesMaster" Target="/ppt/notesMasters/notesMaster1.xml" Id="Re73aaf20a19349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e56dc445d348b6" /><Relationship Type="http://schemas.openxmlformats.org/officeDocument/2006/relationships/notesMaster" Target="/ppt/notesMasters/notesMaster1.xml" Id="R31c12a54573c46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67e4c6d0fe4551" /><Relationship Type="http://schemas.openxmlformats.org/officeDocument/2006/relationships/notesMaster" Target="/ppt/notesMasters/notesMaster1.xml" Id="Rb6b40af9a0bd4c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d418344dd34789" /><Relationship Type="http://schemas.openxmlformats.org/officeDocument/2006/relationships/notesMaster" Target="/ppt/notesMasters/notesMaster1.xml" Id="R237c01bcf8fd47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348d9af1c646a6" /><Relationship Type="http://schemas.openxmlformats.org/officeDocument/2006/relationships/notesMaster" Target="/ppt/notesMasters/notesMaster1.xml" Id="R44bef8c2dcea49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275ebc94f54223" /><Relationship Type="http://schemas.openxmlformats.org/officeDocument/2006/relationships/notesMaster" Target="/ppt/notesMasters/notesMaster1.xml" Id="Rc53de10a175946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eb7ca04aa54e9c" /><Relationship Type="http://schemas.openxmlformats.org/officeDocument/2006/relationships/notesMaster" Target="/ppt/notesMasters/notesMaster1.xml" Id="R0039a14a885146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df251ea85642c0" /><Relationship Type="http://schemas.openxmlformats.org/officeDocument/2006/relationships/notesMaster" Target="/ppt/notesMasters/notesMaster1.xml" Id="R271557962c6c4b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f9d7849eb4b7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1d745b46a1e4177" /><Relationship Type="http://schemas.openxmlformats.org/officeDocument/2006/relationships/slideLayout" Target="/ppt/slideLayouts/slideLayout2.xml" Id="Rb9501b8f511d42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501b8f511d42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5ab139b49c4ee4" /><Relationship Type="http://schemas.openxmlformats.org/officeDocument/2006/relationships/image" Target="/ppt/media/image.png" Id="R2053f2f5849d4af8" /><Relationship Type="http://schemas.openxmlformats.org/officeDocument/2006/relationships/notesSlide" Target="/ppt/notesSlides/notesSlide1.xml" Id="Rf1aa53d9bb9846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e96678ff864cc0" /><Relationship Type="http://schemas.openxmlformats.org/officeDocument/2006/relationships/notesSlide" Target="/ppt/notesSlides/notesSlide2.xml" Id="Rd61b547ae3ab4a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4ab190a9d74001" /><Relationship Type="http://schemas.openxmlformats.org/officeDocument/2006/relationships/notesSlide" Target="/ppt/notesSlides/notesSlide3.xml" Id="R872c85ea2e6f41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75e6a0e1684b0f" /><Relationship Type="http://schemas.openxmlformats.org/officeDocument/2006/relationships/notesSlide" Target="/ppt/notesSlides/notesSlide4.xml" Id="R95cfc64d37bb4a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409366abc34a2c" /><Relationship Type="http://schemas.openxmlformats.org/officeDocument/2006/relationships/notesSlide" Target="/ppt/notesSlides/notesSlide5.xml" Id="Rc8696a5b83474b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63bcd330b34f7a" /><Relationship Type="http://schemas.openxmlformats.org/officeDocument/2006/relationships/image" Target="/ppt/media/image2.png" Id="R64f14b722923403a" /><Relationship Type="http://schemas.openxmlformats.org/officeDocument/2006/relationships/notesSlide" Target="/ppt/notesSlides/notesSlide6.xml" Id="Raddda069408644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8fd6a84975459c" /><Relationship Type="http://schemas.openxmlformats.org/officeDocument/2006/relationships/image" Target="/ppt/media/image3.png" Id="Rbe11e7750eee40fc" /><Relationship Type="http://schemas.openxmlformats.org/officeDocument/2006/relationships/notesSlide" Target="/ppt/notesSlides/notesSlide7.xml" Id="R3b175e435e6e4f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a2201823ad45c9" /><Relationship Type="http://schemas.openxmlformats.org/officeDocument/2006/relationships/notesSlide" Target="/ppt/notesSlides/notesSlide8.xml" Id="Rb5648b62bae64c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5976f7a33549e0" /><Relationship Type="http://schemas.openxmlformats.org/officeDocument/2006/relationships/notesSlide" Target="/ppt/notesSlides/notesSlide9.xml" Id="Rc88a988a20ba4c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b0e0433c0b4531" /><Relationship Type="http://schemas.openxmlformats.org/officeDocument/2006/relationships/notesSlide" Target="/ppt/notesSlides/notesSlide10.xml" Id="R6f41abf9646d41a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3f2f5849d4af8"/>
          <a:stretch xmlns:a="http://schemas.openxmlformats.org/drawingml/2006/main"/>
        </p:blipFill>
        <p:spPr>
          <a:xfrm xmlns:a="http://schemas.openxmlformats.org/drawingml/2006/main">
            <a:off x="857250" y="76200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DD55CE-FC48-40F4-8133-C7028BF7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762000"/>
            <a:ext cx="146113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0B1324"/>
                </a:solidFill>
              </a:defRPr>
            </a:pPr>
            <a:r>
              <a:rPr sz="5850" b="1">
                <a:solidFill>
                  <a:srgbClr val="0B1324"/>
                </a:solidFill>
              </a:rPr>
              <a:t>AlphaLab System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0697A66A-5B77-4654-AEAD-5DCA2762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38300"/>
            <a:ext cx="8953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475569"/>
                </a:solidFill>
              </a:defRPr>
            </a:pPr>
            <a:r>
              <a:rPr sz="2325">
                <a:solidFill>
                  <a:srgbClr val="475569"/>
                </a:solidFill>
              </a:rPr>
              <a:t>Integrated Laboratory, Radiology, Inventory, Billing, and Reporting Platform</a:t>
            </a:r>
          </a:p>
        </p:txBody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2305D7CD-2E65-4E17-9399-65FFDE21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4F"/>
          </a:solidFill>
          <a:ln xmlns:a="http://schemas.openxmlformats.org/drawingml/2006/main" w="0">
            <a:solidFill>
              <a:srgbClr val="0B6E4F"/>
            </a:solidFill>
            <a:prstDash val="solid"/>
          </a:ln>
        </p:spPr>
      </p:sp>
      <p:sp>
        <p:nvSpPr>
          <p:cNvPr id="5" name="meta">
            <a:extLst xmlns:a="http://schemas.openxmlformats.org/drawingml/2006/main">
              <a:ext uri="{FF2B5EF4-FFF2-40B4-BE49-F238E27FC236}">
                <a16:creationId xmlns:a16="http://schemas.microsoft.com/office/drawing/2014/main" id="{75A008FD-2061-42E6-8502-93A159E8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52700"/>
            <a:ext cx="1461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B6E4F"/>
                </a:solidFill>
              </a:defRPr>
            </a:pPr>
            <a:r>
              <a:rPr sz="1800">
                <a:solidFill>
                  <a:srgbClr val="0B6E4F"/>
                </a:solidFill>
              </a:rPr>
              <a:t>Discussion Deck | 2026</a:t>
            </a:r>
          </a:p>
        </p:txBody>
      </p:sp>
      <p:sp>
        <p:nvSpPr>
          <p:cNvPr id="6" name="p">
            <a:extLst xmlns:a="http://schemas.openxmlformats.org/drawingml/2006/main">
              <a:ext uri="{FF2B5EF4-FFF2-40B4-BE49-F238E27FC236}">
                <a16:creationId xmlns:a16="http://schemas.microsoft.com/office/drawing/2014/main" id="{1F44AB1C-B8C2-4C0D-B10B-1BA8870F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14650"/>
            <a:ext cx="11696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172A"/>
                </a:solidFill>
              </a:defRPr>
            </a:pPr>
            <a:r>
              <a:rPr sz="2550">
                <a:solidFill>
                  <a:srgbClr val="0F172A"/>
                </a:solidFill>
              </a:rPr>
              <a:t>One connected workflow from patient registration to final result, payment, and analytics.</a:t>
            </a:r>
          </a:p>
        </p:txBody>
      </p:sp>
    </p:spTree>
    <p:extLst>
      <p:ext uri="{BB962C8B-B14F-4D97-AF65-F5344CB8AC3E}">
        <p14:creationId xmlns:p14="http://schemas.microsoft.com/office/powerpoint/2010/main" val="9020880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FF798775-8912-403A-B096-DAEEF0D6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Agenda</a:t>
            </a:r>
          </a:p>
        </p:txBody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EB8ED04C-D9B4-4025-A2B7-F451FB42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4F"/>
          </a:solidFill>
          <a:ln xmlns:a="http://schemas.openxmlformats.org/drawingml/2006/main" w="0">
            <a:solidFill>
              <a:srgbClr val="0B6E4F"/>
            </a:solidFill>
            <a:prstDash val="solid"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B9A5FD4-A6B2-4E9F-A0ED-721A3926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7244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1. System Vision and Value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2. Technical Architecture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3. Operational Workflow by Role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4. Core Modules and Differentiators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5. Screenshots (Radiology Sample Views)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6. Security and Integration Readiness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7. Next Steps</a:t>
            </a:r>
          </a:p>
        </p:txBody>
      </p:sp>
    </p:spTree>
    <p:extLst>
      <p:ext uri="{BB962C8B-B14F-4D97-AF65-F5344CB8AC3E}">
        <p14:creationId xmlns:p14="http://schemas.microsoft.com/office/powerpoint/2010/main" val="12544022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6A65A6E7-742B-4860-AE64-2CF29C3F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Technical Architecture</a:t>
            </a:r>
          </a:p>
        </p:txBody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D5DB56D3-DDA4-4A1D-8C1A-7083F3B7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4F"/>
          </a:solidFill>
          <a:ln xmlns:a="http://schemas.openxmlformats.org/drawingml/2006/main" w="0">
            <a:solidFill>
              <a:srgbClr val="0B6E4F"/>
            </a:solidFill>
            <a:prstDash val="solid"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AB97E7F-8A7E-4127-A490-F1995D2D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89916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Frontend: React Native + Expo + Expo Router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Backend: Django + DRF REST APIs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Data: SQLite (current setup), migration-ready design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Security: Session auth + CSRF + role-based permissions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Quality: backend tests, API smoke tests, frontend unit tests, Playwright E2E</a:t>
            </a:r>
          </a:p>
        </p:txBody>
      </p:sp>
    </p:spTree>
    <p:extLst>
      <p:ext uri="{BB962C8B-B14F-4D97-AF65-F5344CB8AC3E}">
        <p14:creationId xmlns:p14="http://schemas.microsoft.com/office/powerpoint/2010/main" val="16820495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9F51201-D508-4F97-A3FF-35431ADF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End-to-End Workflow</a:t>
            </a:r>
          </a:p>
        </p:txBody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7E2B053E-C8A3-4A44-AC73-DD2D1C0F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4F"/>
          </a:solidFill>
          <a:ln xmlns:a="http://schemas.openxmlformats.org/drawingml/2006/main" w="0">
            <a:solidFill>
              <a:srgbClr val="0B6E4F"/>
            </a:solidFill>
            <a:prstDash val="solid"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A37B47E-EFD8-4E47-A700-04A4685D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8477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Reception registers patient and insurance details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Order is created (lab tests or scans) and linked to appointment/invoice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Sample collection or radiology upload is performed by technician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Result entry applies validation and critical-range checks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Billing, payment, and report analytics complete the cycle</a:t>
            </a:r>
          </a:p>
        </p:txBody>
      </p:sp>
    </p:spTree>
    <p:extLst>
      <p:ext uri="{BB962C8B-B14F-4D97-AF65-F5344CB8AC3E}">
        <p14:creationId xmlns:p14="http://schemas.microsoft.com/office/powerpoint/2010/main" val="3379846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B4470885-7B73-480D-835A-97B4DF8C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Role-Based Operational Coverage</a:t>
            </a:r>
          </a:p>
        </p:txBody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73B143AC-D890-4F2D-9737-71BDF418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4F"/>
          </a:solidFill>
          <a:ln xmlns:a="http://schemas.openxmlformats.org/drawingml/2006/main" w="0">
            <a:solidFill>
              <a:srgbClr val="0B6E4F"/>
            </a:solidFill>
            <a:prstDash val="solid"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F883F89-A1B7-4B51-86DD-7E5F3944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121539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Receptionist: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Add patient, create orders, billing, insurance settings, user management, reports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Lab Technician: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Worklist dashboard, sample collection, test run, result entry, radiology reporting, inventory operations</a:t>
            </a:r>
          </a:p>
        </p:txBody>
      </p:sp>
    </p:spTree>
    <p:extLst>
      <p:ext uri="{BB962C8B-B14F-4D97-AF65-F5344CB8AC3E}">
        <p14:creationId xmlns:p14="http://schemas.microsoft.com/office/powerpoint/2010/main" val="9707861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81F378D2-A343-4077-8366-05D7648C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6764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System Screenshot 1: Radiology Sample View</a:t>
            </a:r>
          </a:p>
        </p:txBody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EA323F86-E208-49B7-A857-C16196DC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4F"/>
          </a:solidFill>
          <a:ln xmlns:a="http://schemas.openxmlformats.org/drawingml/2006/main" w="0">
            <a:solidFill>
              <a:srgbClr val="0B6E4F"/>
            </a:solidFill>
            <a:prstDash val="solid"/>
          </a:ln>
        </p:spPr>
      </p:sp>
      <p:pic>
        <p:nvPicPr>
          <p:cNvPr id="3" name="ss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14b722923403a"/>
          <a:stretch xmlns:a="http://schemas.openxmlformats.org/drawingml/2006/main"/>
        </p:blipFill>
        <p:spPr>
          <a:xfrm xmlns:a="http://schemas.openxmlformats.org/drawingml/2006/main">
            <a:off x="762000" y="1276350"/>
            <a:ext cx="16764000" cy="7429500"/>
          </a:xfrm>
          <a:prstGeom xmlns:a="http://schemas.openxmlformats.org/drawingml/2006/main" prst="rect">
            <a:avLst/>
          </a:prstGeom>
        </p:spPr>
      </p:pic>
      <p:sp>
        <p:nvSpPr>
          <p:cNvPr id="4" name="note">
            <a:extLst xmlns:a="http://schemas.openxmlformats.org/drawingml/2006/main">
              <a:ext uri="{FF2B5EF4-FFF2-40B4-BE49-F238E27FC236}">
                <a16:creationId xmlns:a16="http://schemas.microsoft.com/office/drawing/2014/main" id="{F9EF7AA8-2300-4800-8F68-908FECD2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39200"/>
            <a:ext cx="1676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75569"/>
                </a:solidFill>
              </a:defRPr>
            </a:pPr>
            <a:r>
              <a:rPr sz="1725">
                <a:solidFill>
                  <a:srgbClr val="475569"/>
                </a:solidFill>
              </a:rPr>
              <a:t>Captured visual from system imaging assets used in radiology workflow.</a:t>
            </a:r>
          </a:p>
        </p:txBody>
      </p:sp>
    </p:spTree>
    <p:extLst>
      <p:ext uri="{BB962C8B-B14F-4D97-AF65-F5344CB8AC3E}">
        <p14:creationId xmlns:p14="http://schemas.microsoft.com/office/powerpoint/2010/main" val="20206081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A820E59F-21C1-4977-A721-62B44F86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6764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System Screenshot 2: Radiology Sample View</a:t>
            </a:r>
          </a:p>
        </p:txBody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A6C37D03-273A-430F-9CAC-B923E3B3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4F"/>
          </a:solidFill>
          <a:ln xmlns:a="http://schemas.openxmlformats.org/drawingml/2006/main" w="0">
            <a:solidFill>
              <a:srgbClr val="0B6E4F"/>
            </a:solidFill>
            <a:prstDash val="solid"/>
          </a:ln>
        </p:spPr>
      </p:sp>
      <p:pic>
        <p:nvPicPr>
          <p:cNvPr id="3" name="ss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1e7750eee40fc"/>
          <a:stretch xmlns:a="http://schemas.openxmlformats.org/drawingml/2006/main"/>
        </p:blipFill>
        <p:spPr>
          <a:xfrm xmlns:a="http://schemas.openxmlformats.org/drawingml/2006/main">
            <a:off x="762000" y="1276350"/>
            <a:ext cx="16764000" cy="7429500"/>
          </a:xfrm>
          <a:prstGeom xmlns:a="http://schemas.openxmlformats.org/drawingml/2006/main" prst="rect">
            <a:avLst/>
          </a:prstGeom>
        </p:spPr>
      </p:pic>
      <p:sp>
        <p:nvSpPr>
          <p:cNvPr id="4" name="note">
            <a:extLst xmlns:a="http://schemas.openxmlformats.org/drawingml/2006/main">
              <a:ext uri="{FF2B5EF4-FFF2-40B4-BE49-F238E27FC236}">
                <a16:creationId xmlns:a16="http://schemas.microsoft.com/office/drawing/2014/main" id="{E4583DD4-E441-40F3-87C3-4EA1BC2F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39200"/>
            <a:ext cx="1676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75569"/>
                </a:solidFill>
              </a:defRPr>
            </a:pPr>
            <a:r>
              <a:rPr sz="1725">
                <a:solidFill>
                  <a:srgbClr val="475569"/>
                </a:solidFill>
              </a:rPr>
              <a:t>Second imaging sample representing DICOM-oriented radiology context.</a:t>
            </a:r>
          </a:p>
        </p:txBody>
      </p:sp>
    </p:spTree>
    <p:extLst>
      <p:ext uri="{BB962C8B-B14F-4D97-AF65-F5344CB8AC3E}">
        <p14:creationId xmlns:p14="http://schemas.microsoft.com/office/powerpoint/2010/main" val="336928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440701CF-C3AC-4EE4-B933-A6075BD2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Core Modules and Differentiators</a:t>
            </a:r>
          </a:p>
        </p:txBody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4CC0C625-3A6B-4E82-ACC5-B047480C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4F"/>
          </a:solidFill>
          <a:ln xmlns:a="http://schemas.openxmlformats.org/drawingml/2006/main" w="0">
            <a:solidFill>
              <a:srgbClr val="0B6E4F"/>
            </a:solidFill>
            <a:prstDash val="solid"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D022B41-4416-4630-84B4-2B33F492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8096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Patient Directory + EMR timeline views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Barcode-enabled sample handling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Multi-parameter lab result entry with critical alerts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DICOM-capable radiology reporting workflow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Inventory alerts, transaction logs, supplier and purchase order flow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Billing + insurance discount logic + financial reports</a:t>
            </a:r>
          </a:p>
        </p:txBody>
      </p:sp>
    </p:spTree>
    <p:extLst>
      <p:ext uri="{BB962C8B-B14F-4D97-AF65-F5344CB8AC3E}">
        <p14:creationId xmlns:p14="http://schemas.microsoft.com/office/powerpoint/2010/main" val="17421745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CB5E2124-987F-4514-80C3-694F8783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Integration Readiness (Two External Systems)</a:t>
            </a:r>
          </a:p>
        </p:txBody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F9A20306-8CA8-420F-9ABA-742C384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4F"/>
          </a:solidFill>
          <a:ln xmlns:a="http://schemas.openxmlformats.org/drawingml/2006/main" w="0">
            <a:solidFill>
              <a:srgbClr val="0B6E4F"/>
            </a:solidFill>
            <a:prstDash val="solid"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B485EDD-4E60-465B-999C-31C3791D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550545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Available now: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Unified REST API endpoints under /api/v1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Strict validation and unique IDs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Activity logging and reporting endpoints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Recommended before integration go-live: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Machine-to-machine auth token model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Idempotency keys + external ID mapping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� Webhook/event layer and reconciliation jobs</a:t>
            </a:r>
          </a:p>
        </p:txBody>
      </p:sp>
    </p:spTree>
    <p:extLst>
      <p:ext uri="{BB962C8B-B14F-4D97-AF65-F5344CB8AC3E}">
        <p14:creationId xmlns:p14="http://schemas.microsoft.com/office/powerpoint/2010/main" val="3358010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4B8C15F8-A48B-448B-BD7E-A22387D6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Next Steps for Discussion</a:t>
            </a:r>
          </a:p>
        </p:txBody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2415A544-A771-479D-A1AF-EE29B505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4F"/>
          </a:solidFill>
          <a:ln xmlns:a="http://schemas.openxmlformats.org/drawingml/2006/main" w="0">
            <a:solidFill>
              <a:srgbClr val="0B6E4F"/>
            </a:solidFill>
            <a:prstDash val="solid"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7495524-F42A-49CE-AB1A-159B4F4F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8953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1) Confirm integration ownership and source-of-truth rules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2) Approve field-level mapping with System A and System B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3) Pilot with one workflow (orders + results)</a:t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4) Extend to billing/inventory sync and production rollout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Prepared files: SYSTEM_SALES_DESCRIPTION.md and INTEGRATION_SPEC.md</a:t>
            </a:r>
          </a:p>
        </p:txBody>
      </p:sp>
    </p:spTree>
    <p:extLst>
      <p:ext uri="{BB962C8B-B14F-4D97-AF65-F5344CB8AC3E}">
        <p14:creationId xmlns:p14="http://schemas.microsoft.com/office/powerpoint/2010/main" val="1900779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2026-04-26T06:41:30.3160000Z</dcterms:created>
  <dcterms:modified xsi:type="dcterms:W3CDTF">2026-04-26T06:41:30.3160000Z</dcterms:modified>
</coreProperties>
</file>